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89" y="384048"/>
            <a:ext cx="428293" cy="4389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07008" y="438912"/>
            <a:ext cx="32918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Helvetica Neue"/>
              </a:rPr>
              <a:t>Tapped 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438912"/>
            <a:ext cx="2267712" cy="347472"/>
          </a:xfrm>
          <a:prstGeom prst="roundRect">
            <a:avLst>
              <a:gd name="adj" fmla="val 50000"/>
            </a:avLst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81160" y="438912"/>
            <a:ext cx="2267712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60">
                <a:solidFill>
                  <a:srgbClr val="FFFFFF"/>
                </a:solidFill>
                <a:latin typeface="Helvetica Neue"/>
              </a:rPr>
              <a:t>BE THE MIDDLE MAN</a:t>
            </a:r>
          </a:p>
        </p:txBody>
      </p:sp>
      <p:pic>
        <p:nvPicPr>
          <p:cNvPr id="6" name="Picture 5" descr="wel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9744" y="868680"/>
            <a:ext cx="3967750" cy="3794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773168"/>
            <a:ext cx="10725912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111"/>
                </a:solidFill>
                <a:latin typeface="Helvetica Neue"/>
              </a:rPr>
              <a:t>Fă muzică.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111"/>
                </a:solidFill>
                <a:latin typeface="Helvetica Neue"/>
              </a:rPr>
              <a:t>Găsește-ți oamenii.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5989320"/>
            <a:ext cx="9235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737373"/>
                </a:solidFill>
                <a:latin typeface="Helvetica Neue"/>
              </a:rPr>
              <a:t>Conectăm producătorii cu artiștii potriviți.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52" y="329184"/>
            <a:ext cx="35691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2415" y="34747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Helvetica Neue"/>
              </a:rPr>
              <a:t>Tapped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347472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737373"/>
                </a:solidFill>
                <a:latin typeface="Helvetica Neue"/>
              </a:rPr>
              <a:t>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3A3A3"/>
                </a:solidFill>
                <a:latin typeface="Helvetica Neue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972800" cy="1417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111"/>
                </a:solidFill>
                <a:latin typeface="Helvetica Neue"/>
              </a:rPr>
              <a:t>Nu e talentul.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111"/>
                </a:solidFill>
                <a:latin typeface="Helvetica Neue"/>
              </a:rPr>
              <a:t>E distribuția.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37373"/>
                </a:solidFill>
                <a:latin typeface="Helvetica Neue"/>
              </a:rPr>
              <a:t>Producătorii fac muzică bună. Beat-urile nu ajung la artiștii potriviți.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66160"/>
            <a:ext cx="3527551" cy="2606040"/>
          </a:xfrm>
          <a:prstGeom prst="roundRect">
            <a:avLst>
              <a:gd name="adj" fmla="val 9824"/>
            </a:avLst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3822191"/>
            <a:ext cx="420624" cy="420624"/>
          </a:xfrm>
          <a:prstGeom prst="ellipse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82219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elvetica Neu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462272"/>
            <a:ext cx="3015487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111"/>
                </a:solidFill>
                <a:latin typeface="Helvetica Neue"/>
              </a:rPr>
              <a:t>Promovarea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956048"/>
            <a:ext cx="3015487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37373"/>
                </a:solidFill>
                <a:latin typeface="Helvetica Neue"/>
              </a:rPr>
              <a:t>Postări, mesaje și urmărire. Adesea mai mult decât beat-ul.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2223" y="3566160"/>
            <a:ext cx="3527551" cy="2606040"/>
          </a:xfrm>
          <a:prstGeom prst="roundRect">
            <a:avLst>
              <a:gd name="adj" fmla="val 9824"/>
            </a:avLst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88255" y="3822191"/>
            <a:ext cx="420624" cy="420624"/>
          </a:xfrm>
          <a:prstGeom prst="ellipse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8255" y="382219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elvetica Neue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8255" y="4462272"/>
            <a:ext cx="3015487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111"/>
                </a:solidFill>
                <a:latin typeface="Helvetica Neue"/>
              </a:rPr>
              <a:t>Căutarea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8255" y="4956048"/>
            <a:ext cx="3015487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37373"/>
                </a:solidFill>
                <a:latin typeface="Helvetica Neue"/>
              </a:rPr>
              <a:t>Artiștii există. Îi cauți unul câte unul.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4367" y="3566160"/>
            <a:ext cx="3527551" cy="2606040"/>
          </a:xfrm>
          <a:prstGeom prst="roundRect">
            <a:avLst>
              <a:gd name="adj" fmla="val 9824"/>
            </a:avLst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0399" y="3822191"/>
            <a:ext cx="420624" cy="420624"/>
          </a:xfrm>
          <a:prstGeom prst="ellipse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0399" y="382219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Helvetica Neue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0399" y="4462272"/>
            <a:ext cx="3015487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111"/>
                </a:solidFill>
                <a:latin typeface="Helvetica Neue"/>
              </a:rPr>
              <a:t>Distribuția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399" y="4956048"/>
            <a:ext cx="3015487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37373"/>
                </a:solidFill>
                <a:latin typeface="Helvetica Neue"/>
              </a:rPr>
              <a:t>Un beat bun care nu ajunge la artistul potrivit.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52" y="329184"/>
            <a:ext cx="35691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2415" y="34747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Helvetica Neue"/>
              </a:rPr>
              <a:t>Tapped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347472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737373"/>
                </a:solidFill>
                <a:latin typeface="Helvetica Neue"/>
              </a:rPr>
              <a:t>AZI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3A3A3"/>
                </a:solidFill>
                <a:latin typeface="Helvetica Neue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111"/>
                </a:solidFill>
                <a:latin typeface="Helvetica Neue"/>
              </a:rPr>
              <a:t>O zi, în 30 de secunde.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737373"/>
                </a:solidFill>
                <a:latin typeface="Helvetica Neue"/>
              </a:rPr>
              <a:t>Așa își caută clienții un producător.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03679" y="2832811"/>
            <a:ext cx="8181593" cy="21945"/>
          </a:xfrm>
          <a:prstGeom prst="roundRect">
            <a:avLst>
              <a:gd name="adj" fmla="val 50000"/>
            </a:avLst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65935" y="2606040"/>
            <a:ext cx="475488" cy="475488"/>
          </a:xfrm>
          <a:prstGeom prst="ellipse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5935" y="260604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73552"/>
            <a:ext cx="2507741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Helvetica Neue"/>
              </a:rPr>
              <a:t>Type beat pe YouTube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977639"/>
            <a:ext cx="243459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37373"/>
                </a:solidFill>
                <a:latin typeface="Helvetica Neue"/>
              </a:rPr>
              <a:t>Speri că algoritmul te vede.</a:t>
            </a:r>
          </a:p>
        </p:txBody>
      </p:sp>
      <p:sp>
        <p:nvSpPr>
          <p:cNvPr id="13" name="Oval 12"/>
          <p:cNvSpPr/>
          <p:nvPr/>
        </p:nvSpPr>
        <p:spPr>
          <a:xfrm>
            <a:off x="4493133" y="2606040"/>
            <a:ext cx="475488" cy="475488"/>
          </a:xfrm>
          <a:prstGeom prst="ellipse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3133" y="260604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7006" y="3273552"/>
            <a:ext cx="2507741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Helvetica Neue"/>
              </a:rPr>
              <a:t>Cauți artiști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3582" y="3977639"/>
            <a:ext cx="243459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37373"/>
                </a:solidFill>
                <a:latin typeface="Helvetica Neue"/>
              </a:rPr>
              <a:t>Manual, unul câte unul.</a:t>
            </a:r>
          </a:p>
        </p:txBody>
      </p:sp>
      <p:sp>
        <p:nvSpPr>
          <p:cNvPr id="17" name="Oval 16"/>
          <p:cNvSpPr/>
          <p:nvPr/>
        </p:nvSpPr>
        <p:spPr>
          <a:xfrm>
            <a:off x="7220331" y="2606040"/>
            <a:ext cx="475488" cy="475488"/>
          </a:xfrm>
          <a:prstGeom prst="ellipse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0331" y="260604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4204" y="3273552"/>
            <a:ext cx="2507741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Helvetica Neue"/>
              </a:rPr>
              <a:t>DM-uri reci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0780" y="3977639"/>
            <a:ext cx="243459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37373"/>
                </a:solidFill>
                <a:latin typeface="Helvetica Neue"/>
              </a:rPr>
              <a:t>Zeci de mesaje. Aproape zero răspunsuri.</a:t>
            </a:r>
          </a:p>
        </p:txBody>
      </p:sp>
      <p:sp>
        <p:nvSpPr>
          <p:cNvPr id="21" name="Oval 20"/>
          <p:cNvSpPr/>
          <p:nvPr/>
        </p:nvSpPr>
        <p:spPr>
          <a:xfrm>
            <a:off x="9947528" y="2606040"/>
            <a:ext cx="475488" cy="475488"/>
          </a:xfrm>
          <a:prstGeom prst="ellipse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47528" y="260604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1401" y="3273552"/>
            <a:ext cx="2507741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Helvetica Neue"/>
              </a:rPr>
              <a:t>O iei de la capăt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7978" y="3977639"/>
            <a:ext cx="243459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37373"/>
                </a:solidFill>
                <a:latin typeface="Helvetica Neue"/>
              </a:rPr>
              <a:t>Aceeași buclă, în fiecare zi.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349240"/>
            <a:ext cx="10908792" cy="841248"/>
          </a:xfrm>
          <a:prstGeom prst="roundRect">
            <a:avLst>
              <a:gd name="adj" fmla="val 50000"/>
            </a:avLst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349240"/>
            <a:ext cx="10451592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Helvetica Neue"/>
              </a:rPr>
              <a:t>Fiecare oră de căutare este o oră în care nu faci muzică.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52" y="329184"/>
            <a:ext cx="35691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2415" y="34747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Helvetica Neue"/>
              </a:rPr>
              <a:t>Tapped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347472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737373"/>
                </a:solidFill>
                <a:latin typeface="Helvetica Neue"/>
              </a:rPr>
              <a:t>SOLUȚIA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3A3A3"/>
                </a:solidFill>
                <a:latin typeface="Helvetica Neue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59436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111"/>
                </a:solidFill>
                <a:latin typeface="Helvetica Neue"/>
              </a:rPr>
              <a:t>Automatizăm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111"/>
                </a:solidFill>
                <a:latin typeface="Helvetica Neue"/>
              </a:rPr>
              <a:t>descoperirea.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576072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37373"/>
                </a:solidFill>
                <a:latin typeface="Helvetica Neue"/>
              </a:rPr>
              <a:t>O platformă ca Tinder, pentru producători și artiști.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840480"/>
            <a:ext cx="438912" cy="438912"/>
          </a:xfrm>
          <a:prstGeom prst="ellipse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3840480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111"/>
                </a:solidFill>
                <a:latin typeface="Helvetica Neue"/>
              </a:rPr>
              <a:t>Asculți lucrarea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498848"/>
            <a:ext cx="438912" cy="438912"/>
          </a:xfrm>
          <a:prstGeom prst="ellipse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9884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4498848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111"/>
                </a:solidFill>
                <a:latin typeface="Helvetica Neue"/>
              </a:rPr>
              <a:t>Dai swipe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157216"/>
            <a:ext cx="438912" cy="438912"/>
          </a:xfrm>
          <a:prstGeom prst="ellipse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1572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515721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111"/>
                </a:solidFill>
                <a:latin typeface="Helvetica Neue"/>
              </a:rPr>
              <a:t>Te conectezi imediat</a:t>
            </a:r>
          </a:p>
        </p:txBody>
      </p:sp>
      <p:pic>
        <p:nvPicPr>
          <p:cNvPr id="17" name="Picture 16" descr="sign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528288"/>
            <a:ext cx="4892040" cy="43043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52" y="329184"/>
            <a:ext cx="35691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2415" y="34747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Helvetica Neue"/>
              </a:rPr>
              <a:t>Tapped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347472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737373"/>
                </a:solidFill>
                <a:latin typeface="Helvetica Neue"/>
              </a:rPr>
              <a:t>POTRIVIREA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3A3A3"/>
                </a:solidFill>
                <a:latin typeface="Helvetica Neue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6583680" cy="1417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11111"/>
                </a:solidFill>
                <a:latin typeface="Helvetica Neue"/>
              </a:rPr>
              <a:t>Oamenii potriviți,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11111"/>
                </a:solidFill>
                <a:latin typeface="Helvetica Neue"/>
              </a:rPr>
              <a:t>în câteva secunde.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737373"/>
                </a:solidFill>
                <a:latin typeface="Helvetica Neue"/>
              </a:rPr>
              <a:t>Matching-ul aduce colaboratorii compatibili.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965960" cy="566928"/>
          </a:xfrm>
          <a:prstGeom prst="roundRect">
            <a:avLst>
              <a:gd name="adj" fmla="val 50000"/>
            </a:avLst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96596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Helvetica Neue"/>
              </a:rPr>
              <a:t>Locație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34056" y="3474720"/>
            <a:ext cx="1965960" cy="566928"/>
          </a:xfrm>
          <a:prstGeom prst="roundRect">
            <a:avLst>
              <a:gd name="adj" fmla="val 50000"/>
            </a:avLst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34056" y="3474720"/>
            <a:ext cx="196596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Helvetica Neue"/>
              </a:rPr>
              <a:t>Genuri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8032" y="3474720"/>
            <a:ext cx="1965960" cy="566928"/>
          </a:xfrm>
          <a:prstGeom prst="roundRect">
            <a:avLst>
              <a:gd name="adj" fmla="val 50000"/>
            </a:avLst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2" y="3474720"/>
            <a:ext cx="196596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Helvetica Neue"/>
              </a:rPr>
              <a:t>Type beats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87952"/>
            <a:ext cx="1965960" cy="566928"/>
          </a:xfrm>
          <a:prstGeom prst="roundRect">
            <a:avLst>
              <a:gd name="adj" fmla="val 50000"/>
            </a:avLst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87952"/>
            <a:ext cx="196596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Helvetica Neue"/>
              </a:rPr>
              <a:t>Influențe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34056" y="4187952"/>
            <a:ext cx="1965960" cy="566928"/>
          </a:xfrm>
          <a:prstGeom prst="roundRect">
            <a:avLst>
              <a:gd name="adj" fmla="val 50000"/>
            </a:avLst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34056" y="4187952"/>
            <a:ext cx="196596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Helvetica Neue"/>
              </a:rPr>
              <a:t>Experiență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74920"/>
            <a:ext cx="649224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111"/>
                </a:solidFill>
                <a:latin typeface="Helvetica Neue"/>
              </a:rPr>
              <a:t>Asculți. Dai swipe. Te conectezi.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600" b="0">
                <a:solidFill>
                  <a:srgbClr val="737373"/>
                </a:solidFill>
                <a:latin typeface="Helvetica Neue"/>
              </a:rPr>
              <a:t>Fără ore de căutare.</a:t>
            </a:r>
          </a:p>
        </p:txBody>
      </p:sp>
      <p:pic>
        <p:nvPicPr>
          <p:cNvPr id="19" name="Picture 18" descr="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698431"/>
            <a:ext cx="4160520" cy="40097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52" y="329184"/>
            <a:ext cx="35691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2415" y="34747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Helvetica Neue"/>
              </a:rPr>
              <a:t>Tapped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347472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737373"/>
                </a:solidFill>
                <a:latin typeface="Helvetica Neue"/>
              </a:rPr>
              <a:t>VALIDARE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3A3A3"/>
                </a:solidFill>
                <a:latin typeface="Helvetica Neue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914400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11111"/>
                </a:solidFill>
                <a:latin typeface="Helvetica Neue"/>
              </a:rPr>
              <a:t>Am întrebat comunitatea.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737373"/>
                </a:solidFill>
                <a:latin typeface="Helvetica Neue"/>
              </a:rPr>
              <a:t>30 de creatori independenți.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77440"/>
            <a:ext cx="3527551" cy="2606040"/>
          </a:xfrm>
          <a:prstGeom prst="roundRect">
            <a:avLst>
              <a:gd name="adj" fmla="val 9824"/>
            </a:avLst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724912"/>
            <a:ext cx="3015487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111111"/>
                </a:solidFill>
                <a:latin typeface="Helvetica Neue"/>
              </a:rPr>
              <a:t>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749039"/>
            <a:ext cx="3015487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37373"/>
                </a:solidFill>
                <a:latin typeface="Helvetica Neue"/>
              </a:rPr>
              <a:t>Un colaborator serios, pe stil, e greu de găsit.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2223" y="2377440"/>
            <a:ext cx="3527551" cy="2606040"/>
          </a:xfrm>
          <a:prstGeom prst="roundRect">
            <a:avLst>
              <a:gd name="adj" fmla="val 9824"/>
            </a:avLst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8255" y="2724912"/>
            <a:ext cx="3015487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111111"/>
                </a:solidFill>
                <a:latin typeface="Helvetica Neue"/>
              </a:rPr>
              <a:t>80%+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8255" y="3749039"/>
            <a:ext cx="3015487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37373"/>
                </a:solidFill>
                <a:latin typeface="Helvetica Neue"/>
              </a:rPr>
              <a:t>Caută artiști în loc să creeze muzică.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4367" y="2377440"/>
            <a:ext cx="3527551" cy="2606040"/>
          </a:xfrm>
          <a:prstGeom prst="roundRect">
            <a:avLst>
              <a:gd name="adj" fmla="val 9824"/>
            </a:avLst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0399" y="2724912"/>
            <a:ext cx="3015487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111111"/>
                </a:solidFill>
                <a:latin typeface="Helvetica Neue"/>
              </a:rPr>
              <a:t>90%+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0399" y="3749039"/>
            <a:ext cx="3015487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37373"/>
                </a:solidFill>
                <a:latin typeface="Helvetica Neue"/>
              </a:rPr>
              <a:t>Vor să asculte, să dea swipe și să se conecteze.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80"/>
            <a:ext cx="10908792" cy="96012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212080"/>
            <a:ext cx="10424160" cy="9601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Helvetica Neue"/>
              </a:rPr>
              <a:t>O problemă trăită, apoi confirmată.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737373"/>
                </a:solidFill>
                <a:latin typeface="Helvetica Neue"/>
              </a:rPr>
              <a:t>Misha produce de peste 3 ani. 222blank: ~5.000 de abonați și 300+ vânzări către producători.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52" y="329184"/>
            <a:ext cx="35691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2415" y="34747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Helvetica Neue"/>
              </a:rPr>
              <a:t>Tapped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347472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737373"/>
                </a:solidFill>
                <a:latin typeface="Helvetica Neue"/>
              </a:rPr>
              <a:t>BE THE MIDDLE 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3A3A3"/>
                </a:solidFill>
                <a:latin typeface="Helvetica Neue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667512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111"/>
                </a:solidFill>
                <a:latin typeface="Helvetica Neue"/>
              </a:rPr>
              <a:t>Stratul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111"/>
                </a:solidFill>
                <a:latin typeface="Helvetica Neue"/>
              </a:rPr>
              <a:t>din mijloc.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649224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737373"/>
                </a:solidFill>
                <a:latin typeface="Helvetica Neue"/>
              </a:rPr>
              <a:t>Filtrăm zgomotul. Potrivim după sunet. Facem legătura mai repede.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6537960" cy="676656"/>
          </a:xfrm>
          <a:prstGeom prst="roundRect">
            <a:avLst>
              <a:gd name="adj" fmla="val 50000"/>
            </a:avLst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657600"/>
            <a:ext cx="603504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Helvetica Neue"/>
              </a:rPr>
              <a:t>Producătorul creează.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43984"/>
            <a:ext cx="6537960" cy="676656"/>
          </a:xfrm>
          <a:prstGeom prst="roundRect">
            <a:avLst>
              <a:gd name="adj" fmla="val 50000"/>
            </a:avLst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443984"/>
            <a:ext cx="603504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Helvetica Neue"/>
              </a:rPr>
              <a:t>Artistul creează.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230368"/>
            <a:ext cx="6537960" cy="676656"/>
          </a:xfrm>
          <a:prstGeom prst="roundRect">
            <a:avLst>
              <a:gd name="adj" fmla="val 50000"/>
            </a:avLst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5230368"/>
            <a:ext cx="603504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Helvetica Neue"/>
              </a:rPr>
              <a:t>Tapped In conectează.</a:t>
            </a:r>
          </a:p>
        </p:txBody>
      </p:sp>
      <p:pic>
        <p:nvPicPr>
          <p:cNvPr id="14" name="Picture 13" descr="sign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881207"/>
            <a:ext cx="4297680" cy="37813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978" y="384048"/>
            <a:ext cx="446138" cy="457200"/>
          </a:xfrm>
          <a:prstGeom prst="rect">
            <a:avLst/>
          </a:prstGeom>
        </p:spPr>
      </p:pic>
      <p:pic>
        <p:nvPicPr>
          <p:cNvPr id="3" name="Picture 2" descr="wel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786" y="960120"/>
            <a:ext cx="3011666" cy="2880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977639"/>
            <a:ext cx="10725912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111"/>
                </a:solidFill>
                <a:latin typeface="Helvetica Neue"/>
              </a:rPr>
              <a:t>Suntem Tapped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09160"/>
            <a:ext cx="1072591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737373"/>
                </a:solidFill>
                <a:latin typeface="Helvetica Neue"/>
              </a:rPr>
              <a:t>Gata de întrebări.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623560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Helvetica Neue"/>
              </a:rPr>
              <a:t>Producătorul creează.   Artistul creează.   Tapped In conectează.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Tapped In</dc:title>
  <dc:subject>Fă muzică. Găsește-ți oamenii.</dc:subject>
  <dc:creator>Tapped In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